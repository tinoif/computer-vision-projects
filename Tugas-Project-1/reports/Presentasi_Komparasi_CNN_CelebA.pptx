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D79BAC-898D-4AC0-BF0A-29B74433D9F1}">
  <a:tblStyle styleId="{17D79BAC-898D-4AC0-BF0A-29B74433D9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Tujuan presentasi adalah membandingkan lima model pretrained dengan konfigurasi eksperimen bersama. Angka berasal dari output notebook, bukan run baru.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Dataset asal: https://mmlab.ie.cuhk.edu.hk/projects/CelebA.html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Versi Kaggle: https://www.kaggle.com/datasets/ashishjangra27/gender-recognition-200k-images-celeba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Notebook cell 4, 8, 17: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Sumber: kode cell 8 semua notebook.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Arsitektur torchvision: https://docs.pytorch.org/vision/main/_modules/torchvision/models/alexnet.html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Notebook cell 11: https://colab.research.google.com/drive/1Ib9G7oVkuvfz-2JxGhLgJBMuTIwrjogN</a:t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Arsitektur torchvision: https://docs.pytorch.org/vision/main/_modules/torchvision/models/vgg.html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Notebook cell 11: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https://colab.research.google.com/drive/1yAb2r57zYJVo4uRP2FO0vYsnHH5AcVPi</a:t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Arsitektur torchvision: https://docs.pytorch.org/vision/main/_modules/torchvision/models/googlenet.html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Notebook cell 11: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Torchvision menggunakan 3×3 pada cabang yang semula dirancang 5×5. Versi library runtime tidak tercatat.</a:t>
            </a:r>
            <a:endParaRPr/>
          </a:p>
        </p:txBody>
      </p:sp>
      <p:sp>
        <p:nvSpPr>
          <p:cNvPr id="89" name="Google Shape;8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Arsitektur torchvision: https://docs.pytorch.org/vision/main/_modules/torchvision/models/resnet.html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Notebook cell 11: https://colab.research.google.com/drive/1vDaOCwMWGAordE_1_7yaSYVZ59poexS5</a:t>
            </a:r>
            <a:endParaRPr/>
          </a:p>
        </p:txBody>
      </p:sp>
      <p:sp>
        <p:nvSpPr>
          <p:cNvPr id="99" name="Google Shape;9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Sumber kode cell 6, 8, 11, 13 dan output cell 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</p:txBody>
      </p:sp>
      <p:sp>
        <p:nvSpPr>
          <p:cNvPr id="109" name="Google Shape;10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Kode cell 13, 17 dan 21.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Sumber output cell 17 dan 13.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https://docs.google.com/spreadsheets/d/1U9UvMD9tMa8L96QBRixhuX88JTluqr22j_ciP7C4yEc/edit</a:t>
            </a:r>
            <a:endParaRPr/>
          </a:p>
        </p:txBody>
      </p:sp>
      <p:sp>
        <p:nvSpPr>
          <p:cNvPr id="127" name="Google Shape;12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Angka dibaca dari heatmap cell 17, cocok dengan classification report dan total 5.000 gambar. Male dijadikan kelas positif untuk istilah TN/FP/FN/TP.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</p:txBody>
      </p:sp>
      <p:sp>
        <p:nvSpPr>
          <p:cNvPr id="137" name="Google Shape;13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Waktu total dari output cell 13, parameter dari cell 11. Training termasuk validasi dan checkpoint, bukan pengukuran latensi inference.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</p:txBody>
      </p:sp>
      <p:sp>
        <p:nvSpPr>
          <p:cNvPr id="147" name="Google Shape;14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Gambar asli yang tersimpan di output inference cell 21. Probabilitas dibulatkan satu desimal persen. Tidak ada label acuan yang dicatat.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</p:txBody>
      </p:sp>
      <p:sp>
        <p:nvSpPr>
          <p:cNvPr id="157" name="Google Shape;15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Temuan berdasarkan satu run tiap model, bukan klaim superioritas universal.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AlexNet: https://colab.research.google.com/drive/1Ib9G7oVkuvfz-2JxGhLgJBMuTIwrjogN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VGG16: https://colab.research.google.com/drive/1XjDx6bdY8It4jygzTAFk6oT9RBtX3C9q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VGG19: https://colab.research.google.com/drive/1yAb2r57zYJVo4uRP2FO0vYsnHH5AcVPi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GoogLeNet: https://colab.research.google.com/drive/1w8Wox2YkUKJJSSYrIeal-wBHTt1OCPWz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ResNet18: https://colab.research.google.com/drive/1vDaOCwMWGAordE_1_7yaSYVZ59poexS5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Laporan: https://docs.google.com/spreadsheets/d/1U9UvMD9tMa8L96QBRixhuX88JTluqr22j_ciP7C4yEc/edit</a:t>
            </a:r>
            <a:endParaRPr/>
          </a:p>
        </p:txBody>
      </p:sp>
      <p:sp>
        <p:nvSpPr>
          <p:cNvPr id="177" name="Google Shape;17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spreadsheets/d/1U9UvMD9tMa8L96QBRixhuX88JTluqr22j_ciP7C4yEc/edi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spreadsheets/d/1U9UvMD9tMa8L96QBRixhuX88JTluqr22j_ciP7C4yEc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609600" y="1447800"/>
            <a:ext cx="10668000" cy="1952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Komparasi CNN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pada label CelebA</a:t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647700" y="3905250"/>
            <a:ext cx="10287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C8D9E7"/>
                </a:solidFill>
                <a:latin typeface="Arial"/>
                <a:ea typeface="Arial"/>
                <a:cs typeface="Arial"/>
                <a:sym typeface="Arial"/>
              </a:rPr>
              <a:t>AlexNet, VGG16, VGG19, GoogLeNet, dan ResNet18</a:t>
            </a:r>
            <a:endParaRPr/>
          </a:p>
        </p:txBody>
      </p:sp>
      <p:sp>
        <p:nvSpPr>
          <p:cNvPr id="33" name="Google Shape;33;p8"/>
          <p:cNvSpPr/>
          <p:nvPr/>
        </p:nvSpPr>
        <p:spPr>
          <a:xfrm>
            <a:off x="647700" y="5057775"/>
            <a:ext cx="93345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C8D9E7"/>
                </a:solidFill>
                <a:latin typeface="Arial"/>
                <a:ea typeface="Arial"/>
                <a:cs typeface="Arial"/>
                <a:sym typeface="Arial"/>
              </a:rPr>
              <a:t>30.000 gambar dalam eksperimen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C8D9E7"/>
                </a:solidFill>
                <a:latin typeface="Arial"/>
                <a:ea typeface="Arial"/>
                <a:cs typeface="Arial"/>
                <a:sym typeface="Arial"/>
              </a:rPr>
              <a:t>Hasil notebook tersimpan, 13 Oktober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Latar belakang project</a:t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1" name="Google Shape;41;p9"/>
          <p:cNvSpPr/>
          <p:nvPr/>
        </p:nvSpPr>
        <p:spPr>
          <a:xfrm>
            <a:off x="609600" y="1619250"/>
            <a:ext cx="10572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Klasifikasi citra wajah menguji kemampuan CNN mengenali pola visual dari data berlabel.</a:t>
            </a:r>
            <a:endParaRPr/>
          </a:p>
        </p:txBody>
      </p:sp>
      <p:sp>
        <p:nvSpPr>
          <p:cNvPr id="42" name="Google Shape;42;p9"/>
          <p:cNvSpPr/>
          <p:nvPr/>
        </p:nvSpPr>
        <p:spPr>
          <a:xfrm>
            <a:off x="609600" y="2676525"/>
            <a:ext cx="10572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Project membandingkan lima arsitektur dengan subset, hyperparameter, dan prosedur evaluasi yang sama.</a:t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609600" y="3733800"/>
            <a:ext cx="10572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Pertanyaan utama: bagaimana akurasi test berubah ketika kapasitas model dan waktu training berbeda?</a:t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>
            <a:off x="609600" y="4791075"/>
            <a:ext cx="10572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Target model adalah label Female/Male pada dataset. Hasil ini berlaku pada eksperimen yang dilaporkan.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Dataset CelebA dan subset eksperimen</a:t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609600" y="151447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CelebA asal: 202.599 gambar, 10.177 identitas, 40 atribut biner, dan 5 titik landmark per gambar.</a:t>
            </a:r>
            <a:endParaRPr/>
          </a:p>
        </p:txBody>
      </p:sp>
      <p:graphicFrame>
        <p:nvGraphicFramePr>
          <p:cNvPr id="53" name="Google Shape;53;p10"/>
          <p:cNvGraphicFramePr/>
          <p:nvPr/>
        </p:nvGraphicFramePr>
        <p:xfrm>
          <a:off x="609600" y="254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1666875"/>
                <a:gridCol w="2238375"/>
                <a:gridCol w="3333750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Jumlah</a:t>
                      </a:r>
                      <a:endParaRPr/>
                    </a:p>
                  </a:txBody>
                  <a:tcPr marT="95250" marB="95250" marR="114300" marL="114300"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Peran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20.000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Melatih bobot model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Validasi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5.000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Memilih checkpoint terbaik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Testing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5.000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Mengukur generalisasi akhir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30.000</a:t>
                      </a:r>
                      <a:endParaRPr/>
                    </a:p>
                  </a:txBody>
                  <a:tcPr marT="95250" marB="95250" marR="114300" marL="114300"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Subset eksperimen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Google Shape;54;p10"/>
          <p:cNvSpPr/>
          <p:nvPr/>
        </p:nvSpPr>
        <p:spPr>
          <a:xfrm>
            <a:off x="8334375" y="2543175"/>
            <a:ext cx="30480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2 label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Female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Male = 1</a:t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8334375" y="4295775"/>
            <a:ext cx="3048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Komposisi test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Female: 2.893 (57,86%)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Male: 2.107 (42,14%)</a:t>
            </a: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609600" y="5915025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Jumlah per label pada train dan validasi tidak dicetak di notebook.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Sampling dan preprocessing</a:t>
            </a:r>
            <a:endParaRPr/>
          </a:p>
        </p:txBody>
      </p:sp>
      <p:sp>
        <p:nvSpPr>
          <p:cNvPr id="63" name="Google Shape;63;p11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graphicFrame>
        <p:nvGraphicFramePr>
          <p:cNvPr id="64" name="Google Shape;64;p11"/>
          <p:cNvGraphicFramePr/>
          <p:nvPr/>
        </p:nvGraphicFramePr>
        <p:xfrm>
          <a:off x="6096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2762250"/>
                <a:gridCol w="8210550"/>
              </a:tblGrid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Tahap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Pengaturan aktual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Sampling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20.000 / 5.000 / 5.000 secara acak tanpa pengulangan, seed 42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RGB, resize langsung menjadi 224 × 224 piksel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Augmentasi train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Flip horizontal, rotasi ±10°, brightness dan contrast 0,2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Normalisasi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 [0,485; 0,456; 0,406], std [0,229; 0,224; 0,225]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Validasi dan test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Resize, ToTensor, Normalize. Tanpa augmentasi acak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Google Shape;65;p11"/>
          <p:cNvSpPr/>
          <p:nvPr/>
        </p:nvSpPr>
        <p:spPr>
          <a:xfrm>
            <a:off x="609600" y="5705475"/>
            <a:ext cx="106680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Subset diambil terpisah dari folder Train, Validation, dan Test. Sampling bukan stratifikasi per label.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AlexNet</a:t>
            </a:r>
            <a:endParaRPr/>
          </a:p>
        </p:txBody>
      </p:sp>
      <p:sp>
        <p:nvSpPr>
          <p:cNvPr id="72" name="Google Shape;72;p12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73" name="Google Shape;73;p12"/>
          <p:cNvSpPr/>
          <p:nvPr/>
        </p:nvSpPr>
        <p:spPr>
          <a:xfrm>
            <a:off x="609600" y="1600200"/>
            <a:ext cx="10668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5 convolution + 3 fully connected</a:t>
            </a:r>
            <a:endParaRPr/>
          </a:p>
        </p:txBody>
      </p:sp>
      <p:graphicFrame>
        <p:nvGraphicFramePr>
          <p:cNvPr id="74" name="Google Shape;74;p12"/>
          <p:cNvGraphicFramePr/>
          <p:nvPr/>
        </p:nvGraphicFramePr>
        <p:xfrm>
          <a:off x="609600" y="240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2952750"/>
                <a:gridCol w="8020050"/>
              </a:tblGrid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Bagian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Struktur pada model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Ekstraksi fitur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Kernel 11×11, 5×5, lalu tiga 3×3. ReLU dan max pooling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 convolution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64, 192, 384, 256, 256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Klasifikasi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Adaptive average pool 6×6. FC 4096, 4096, lalu 2 logits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Regularisasi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Dropout pada classifier, default 0,5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" name="Google Shape;75;p12"/>
          <p:cNvSpPr/>
          <p:nvPr/>
        </p:nvSpPr>
        <p:spPr>
          <a:xfrm>
            <a:off x="609600" y="5715000"/>
            <a:ext cx="106680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Parameter tercatat: 57,0 juta. Bobot awal ImageNet. Layer terakhir disesuaikan menjadi dua kelas.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VGG16 dan VGG19</a:t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609600" y="1543050"/>
            <a:ext cx="1066800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Convolution 3×3 bertumpuk dalam lima blok, diikuti max pooling. Varian notebook memakai VGG tanpa BatchNorm.</a:t>
            </a:r>
            <a:endParaRPr/>
          </a:p>
        </p:txBody>
      </p:sp>
      <p:graphicFrame>
        <p:nvGraphicFramePr>
          <p:cNvPr id="84" name="Google Shape;84;p13"/>
          <p:cNvGraphicFramePr/>
          <p:nvPr/>
        </p:nvGraphicFramePr>
        <p:xfrm>
          <a:off x="609600" y="264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3733800"/>
                <a:gridCol w="3619500"/>
                <a:gridCol w="3619500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Karakteristik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VGG16</a:t>
                      </a:r>
                      <a:endParaRPr/>
                    </a:p>
                  </a:txBody>
                  <a:tcPr marT="95250" marB="95250" marR="114300" marL="114300"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VGG19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Convolution tiap blok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2, 2, 3, 3, 3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2, 2, 4, 4, 4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Jumlah layer berbobot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 conv + 3 FC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conv + 3 FC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 tercatat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134,3 juta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139,6 juta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Classifier akhir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4096, 4096, 2 logits</a:t>
                      </a:r>
                      <a:endParaRPr/>
                    </a:p>
                  </a:txBody>
                  <a:tcPr marT="95250" marB="95250" marR="114300" marL="114300"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4096, 4096, 2 logits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3"/>
          <p:cNvSpPr/>
          <p:nvPr/>
        </p:nvSpPr>
        <p:spPr>
          <a:xfrm>
            <a:off x="609600" y="5934075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Channel blok: 64, 128, 256, 512, 512. Pooling akhir 7×7 dan dropout pada classifier.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GoogLeNet dan modul Inception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609600" y="1543050"/>
            <a:ext cx="10668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9 modul Inception menggabungkan keluaran beberapa cabang pada dimensi channel.</a:t>
            </a:r>
            <a:endParaRPr/>
          </a:p>
        </p:txBody>
      </p:sp>
      <p:graphicFrame>
        <p:nvGraphicFramePr>
          <p:cNvPr id="94" name="Google Shape;94;p14"/>
          <p:cNvGraphicFramePr/>
          <p:nvPr/>
        </p:nvGraphicFramePr>
        <p:xfrm>
          <a:off x="6096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2952750"/>
                <a:gridCol w="8020050"/>
              </a:tblGrid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Komponen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Fungsi / implementasi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Cabang Inception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Cabang 1×1, reduction + conv, serta pooling + 1×1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Reduction 1×1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Mengurangi jumlah channel sebelum convolution yang lebih mahal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Penggabungan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Concatenation fitur cabang. Conv memakai BatchNorm dan ReLU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 eksperimen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Global average pooling, dropout, FC 1024 menjadi 2 logits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Auxiliary classifier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Dinonaktifkan. Notebook hanya memakai loss dari head utama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14"/>
          <p:cNvSpPr/>
          <p:nvPr/>
        </p:nvSpPr>
        <p:spPr>
          <a:xfrm>
            <a:off x="609600" y="6038850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Parameter tercatat: 5,6 juta. Pada implementasi torchvision, cabang nominal 5×5 menggunakan 3×3.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ResNet18 dan residual connection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09600" y="1543050"/>
            <a:ext cx="10668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Blok residual menjumlahkan transformasi fitur dengan jalur shortcut: y = F(x) + x.</a:t>
            </a:r>
            <a:endParaRPr/>
          </a:p>
        </p:txBody>
      </p:sp>
      <p:graphicFrame>
        <p:nvGraphicFramePr>
          <p:cNvPr id="104" name="Google Shape;104;p15"/>
          <p:cNvGraphicFramePr/>
          <p:nvPr/>
        </p:nvGraphicFramePr>
        <p:xfrm>
          <a:off x="6096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2952750"/>
                <a:gridCol w="8020050"/>
              </a:tblGrid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Bagian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Struktur ResNet18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Stem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Convolution 7×7, BatchNorm, ReLU, lalu max pooling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Empat stage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Masing-masing 2 BasicBlock. Channel 64, 128, 256, 512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BasicBlock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Dua convolution 3×3 dan shortcut. Projection saat dimensi berubah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Global average pooling. FC 512 menjadi 2 logits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05;p15"/>
          <p:cNvSpPr/>
          <p:nvPr/>
        </p:nvSpPr>
        <p:spPr>
          <a:xfrm>
            <a:off x="609600" y="5943600"/>
            <a:ext cx="10668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Shortcut memberi jalur langsung untuk fitur dan gradien. Parameter tercatat: 11,2 juta.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Hyperparameter dan environment bersama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graphicFrame>
        <p:nvGraphicFramePr>
          <p:cNvPr id="113" name="Google Shape;113;p16"/>
          <p:cNvGraphicFramePr/>
          <p:nvPr/>
        </p:nvGraphicFramePr>
        <p:xfrm>
          <a:off x="609600" y="162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2628900"/>
                <a:gridCol w="2857500"/>
                <a:gridCol w="2628900"/>
                <a:gridCol w="2857500"/>
              </a:tblGrid>
              <a:tr h="5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Pengaturan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Nilai</a:t>
                      </a:r>
                      <a:endParaRPr/>
                    </a:p>
                  </a:txBody>
                  <a:tcPr marT="95250" marB="95250" marR="114300" marL="114300"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Pengaturan</a:t>
                      </a:r>
                      <a:endParaRPr/>
                    </a:p>
                  </a:txBody>
                  <a:tcPr marT="95250" marB="95250" marR="114300" marL="114300"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Nilai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5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Epoch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Batch size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rate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0,0001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Optimizer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Adam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Loss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CrossEntropyLoss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Seed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224×224 RGB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DataLoader workers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Bobot awal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ImageNet V1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Fine tuning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Seluruh parameter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 tercatat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Tesla T4, CUDA device</a:t>
                      </a:r>
                      <a:endParaRPr/>
                    </a:p>
                  </a:txBody>
                  <a:tcPr marT="95250" marB="95250" marR="114300" marL="114300"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Mixed precision</a:t>
                      </a:r>
                      <a:endParaRPr/>
                    </a:p>
                  </a:txBody>
                  <a:tcPr marT="95250" marB="95250" marR="114300" marL="114300"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AMP + GradScaler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16"/>
          <p:cNvSpPr/>
          <p:nvPr/>
        </p:nvSpPr>
        <p:spPr>
          <a:xfrm>
            <a:off x="609600" y="569595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PyTorch dan torchvision pada Google Colab. Versi library, driver, CPU, dan RAM tidak dicetak lengkap. Tidak ada scheduler atau early stopping dalam loop.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Metode evaluasi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graphicFrame>
        <p:nvGraphicFramePr>
          <p:cNvPr id="122" name="Google Shape;122;p17"/>
          <p:cNvGraphicFramePr/>
          <p:nvPr/>
        </p:nvGraphicFramePr>
        <p:xfrm>
          <a:off x="609600" y="16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2952750"/>
                <a:gridCol w="8020050"/>
              </a:tblGrid>
              <a:tr h="54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Ukuran / prosedur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Definisi dan pemakaian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Checkpoint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Bobot dengan akurasi validasi tertinggi, lalu dievaluasi pada test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Jumlah prediksi benar dibagi seluruh gambar test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 dan recall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 = TP/(TP+FP). Recall = TP/(TP+FN), tiap kelas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Rata-rata harmonik precision dan recall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/ weighted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rata-rata dua kelas. Weighted memakai bobot jumlah sampel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4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Confusion matrix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Baris = aktual, kolom = prediksi. Label Female dan Male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17"/>
          <p:cNvSpPr/>
          <p:nvPr/>
        </p:nvSpPr>
        <p:spPr>
          <a:xfrm>
            <a:off x="609600" y="5734050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Loss dan accuracy dicatat tiap epoch. Waktu training dan jumlah parameter melengkapi penilaian efisiensi.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VGG16 tertinggi pada hasil test</a:t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graphicFrame>
        <p:nvGraphicFramePr>
          <p:cNvPr id="131" name="Google Shape;131;p18"/>
          <p:cNvGraphicFramePr/>
          <p:nvPr/>
        </p:nvGraphicFramePr>
        <p:xfrm>
          <a:off x="6096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2809875"/>
                <a:gridCol w="2714625"/>
                <a:gridCol w="2714625"/>
                <a:gridCol w="2733675"/>
              </a:tblGrid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50"/>
                        <a:buFont typeface="Arial"/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50"/>
                        <a:buFont typeface="Arial"/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/>
                    </a:p>
                  </a:txBody>
                  <a:tcPr marT="95250" marB="95250" marR="114300" marL="114300"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50"/>
                        <a:buFont typeface="Arial"/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 F1</a:t>
                      </a:r>
                      <a:endParaRPr/>
                    </a:p>
                  </a:txBody>
                  <a:tcPr marT="95250" marB="95250" marR="114300" marL="114300"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250"/>
                        <a:buFont typeface="Arial"/>
                        <a:buNone/>
                      </a:pPr>
                      <a:r>
                        <a:rPr b="1" lang="en-US" sz="22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Salah / 5.000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VGG16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98,52%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98,48%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VGG19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98,42%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98,38%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79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ResNet18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98,18%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98,13%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GoogLeNet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97,94%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97,89%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103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AlexNet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97,36%</a:t>
                      </a:r>
                      <a:endParaRPr/>
                    </a:p>
                  </a:txBody>
                  <a:tcPr marT="95250" marB="95250" marR="114300" marL="114300"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97,29%</a:t>
                      </a:r>
                      <a:endParaRPr/>
                    </a:p>
                  </a:txBody>
                  <a:tcPr marT="95250" marB="95250" marR="114300" marL="114300"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2250"/>
                        <a:buFont typeface="Arial"/>
                        <a:buNone/>
                      </a:pPr>
                      <a:r>
                        <a:rPr lang="en-US" sz="22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132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8"/>
          <p:cNvSpPr/>
          <p:nvPr/>
        </p:nvSpPr>
        <p:spPr>
          <a:xfrm>
            <a:off x="609600" y="5305425"/>
            <a:ext cx="106680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VGG16 berbeda 0,10 poin persentase dari VGG19, setara 5 gambar test. Selisih ini belum diuji dengan beberapa seed.</a:t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609600" y="6134100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Laporan lengkap dan sumber di Google Sheets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Confusion matrix dan kesalahan per kelas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graphicFrame>
        <p:nvGraphicFramePr>
          <p:cNvPr id="141" name="Google Shape;141;p19"/>
          <p:cNvGraphicFramePr/>
          <p:nvPr/>
        </p:nvGraphicFramePr>
        <p:xfrm>
          <a:off x="609600" y="160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2333625"/>
                <a:gridCol w="2162175"/>
                <a:gridCol w="2162175"/>
                <a:gridCol w="2162175"/>
                <a:gridCol w="2152650"/>
              </a:tblGrid>
              <a:tr h="5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Female benar</a:t>
                      </a:r>
                      <a:endParaRPr/>
                    </a:p>
                  </a:txBody>
                  <a:tcPr marT="95250" marB="95250" marR="114300" marL="114300"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Female → Male</a:t>
                      </a:r>
                      <a:endParaRPr/>
                    </a:p>
                  </a:txBody>
                  <a:tcPr marT="95250" marB="95250" marR="114300" marL="114300"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Male → Female</a:t>
                      </a:r>
                      <a:endParaRPr/>
                    </a:p>
                  </a:txBody>
                  <a:tcPr marT="95250" marB="95250" marR="114300" marL="114300"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75"/>
                        <a:buFont typeface="Arial"/>
                        <a:buNone/>
                      </a:pPr>
                      <a:r>
                        <a:rPr b="1" lang="en-US" sz="1875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Male benar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AlexNet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2823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2045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VGG16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2853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2073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VGG19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2853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2068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GoogLeNet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2827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</a:t>
                      </a:r>
                      <a:endParaRPr/>
                    </a:p>
                  </a:txBody>
                  <a:tcPr marT="95250" marB="9525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2070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ResNet18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2854</a:t>
                      </a:r>
                      <a:endParaRPr/>
                    </a:p>
                  </a:txBody>
                  <a:tcPr marT="95250" marB="95250" marR="114300" marL="114300"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/>
                    </a:p>
                  </a:txBody>
                  <a:tcPr marT="95250" marB="95250" marR="114300" marL="114300"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/>
                    </a:p>
                  </a:txBody>
                  <a:tcPr marT="95250" marB="95250" marR="114300" marL="114300"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875"/>
                        <a:buFont typeface="Arial"/>
                        <a:buNone/>
                      </a:pPr>
                      <a:r>
                        <a:rPr lang="en-US" sz="1875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2055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19"/>
          <p:cNvSpPr/>
          <p:nvPr/>
        </p:nvSpPr>
        <p:spPr>
          <a:xfrm>
            <a:off x="609600" y="5381625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VGG16: 40 Female diprediksi Male dan 34 Male diprediksi Female. Total kesalahan 74 gambar.</a:t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609600" y="6019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Support test: Female 2.893, Male 2.107. Metrik per kelas melengkapi accuracy.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Akurasi, durasi, dan kapasitas model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graphicFrame>
        <p:nvGraphicFramePr>
          <p:cNvPr id="151" name="Google Shape;151;p20"/>
          <p:cNvGraphicFramePr/>
          <p:nvPr/>
        </p:nvGraphicFramePr>
        <p:xfrm>
          <a:off x="7334250" y="185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{17D79BAC-898D-4AC0-BF0A-29B74433D9F1}</a:tableStyleId>
              </a:tblPr>
              <a:tblGrid>
                <a:gridCol w="2124075"/>
                <a:gridCol w="2124075"/>
              </a:tblGrid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950"/>
                        <a:buFont typeface="Arial"/>
                        <a:buNone/>
                      </a:pPr>
                      <a:r>
                        <a:rPr b="1" lang="en-US" sz="1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 (juta)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102A43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AlexNet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57,0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VGG16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134,3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VGG19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139,6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GoogLeNet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5,6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ResNet18</a:t>
                      </a:r>
                      <a:endParaRPr/>
                    </a:p>
                  </a:txBody>
                  <a:tcPr marT="95250" marB="95250" marR="114300" marL="114300">
                    <a:lnL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B53"/>
                        </a:buClr>
                        <a:buSzPts val="1950"/>
                        <a:buFont typeface="Arial"/>
                        <a:buNone/>
                      </a:pPr>
                      <a:r>
                        <a:rPr lang="en-US" sz="195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11,2</a:t>
                      </a:r>
                      <a:endParaRPr/>
                    </a:p>
                  </a:txBody>
                  <a:tcPr marT="95250" marB="95250" marR="114300" marL="114300">
                    <a:lnR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BE4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20"/>
          <p:cNvSpPr/>
          <p:nvPr/>
        </p:nvSpPr>
        <p:spPr>
          <a:xfrm>
            <a:off x="609600" y="5743575"/>
            <a:ext cx="1066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ResNet18: 98,18% dalam 14,5 menit. GoogLeNet: parameter paling sedikit, 5,6 juta. AlexNet: training tercepat, 13,0 menit.</a:t>
            </a:r>
            <a:endParaRPr/>
          </a:p>
        </p:txBody>
      </p:sp>
      <p:pic>
        <p:nvPicPr>
          <p:cNvPr id="153" name="Google Shape;153;p20" title="Durasi training (menit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27" y="1657350"/>
            <a:ext cx="6299595" cy="387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Contoh prediksi dari output notebook</a:t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609600" y="1724025"/>
            <a:ext cx="2543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VGG16</a:t>
            </a:r>
            <a:endParaRPr/>
          </a:p>
        </p:txBody>
      </p:sp>
      <p:pic>
        <p:nvPicPr>
          <p:cNvPr id="162" name="Google Shape;1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63048"/>
            <a:ext cx="2543175" cy="222720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/>
          <p:nvPr/>
        </p:nvSpPr>
        <p:spPr>
          <a:xfrm>
            <a:off x="609600" y="5257800"/>
            <a:ext cx="25431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Raisya.jpeg</a:t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3381375" y="1724025"/>
            <a:ext cx="2543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VGG19</a:t>
            </a:r>
            <a:endParaRPr/>
          </a:p>
        </p:txBody>
      </p:sp>
      <p:pic>
        <p:nvPicPr>
          <p:cNvPr id="165" name="Google Shape;1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2563048"/>
            <a:ext cx="2543175" cy="222720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/>
          <p:nvPr/>
        </p:nvSpPr>
        <p:spPr>
          <a:xfrm>
            <a:off x="3381375" y="5257800"/>
            <a:ext cx="25431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raisa.jpg</a:t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6153150" y="1724025"/>
            <a:ext cx="2543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GoogLeNet</a:t>
            </a:r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3150" y="2563048"/>
            <a:ext cx="2543175" cy="222720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/>
          <p:nvPr/>
        </p:nvSpPr>
        <p:spPr>
          <a:xfrm>
            <a:off x="6153150" y="5257800"/>
            <a:ext cx="25431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Raisya.jpeg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8924925" y="1724025"/>
            <a:ext cx="2543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ResNet18</a:t>
            </a: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4925" y="2563048"/>
            <a:ext cx="2543175" cy="222720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/>
          <p:nvPr/>
        </p:nvSpPr>
        <p:spPr>
          <a:xfrm>
            <a:off x="8924925" y="5257800"/>
            <a:ext cx="25431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raisa.jpg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609600" y="5743575"/>
            <a:ext cx="10668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Keempat contoh memprediksi Female. Skor softmax bukan ukuran akurasi test atau bukti prediksi benar. Contoh AlexNet tidak tersedia karena error pada cell inference terakhir.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609600" y="4572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Kesimpulan dan saran</a:t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11239500" y="6324600"/>
            <a:ext cx="381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2677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609600" y="1552575"/>
            <a:ext cx="10668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Untuk akurasi tertinggi pada run ini, VGG16 memberi 98,52% dan macro F1 98,48%.</a:t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609600" y="2581275"/>
            <a:ext cx="10668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Untuk kombinasi hasil dan durasi, ResNet18 layak diprioritaskan: 98,18% dengan 14,5 menit training.</a:t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609600" y="3609975"/>
            <a:ext cx="10668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GoogLeNet menarik ketika kapasitas model menjadi perhatian. Parameter lebih kecil belum membuktikan inference lebih cepat.</a:t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609600" y="4638675"/>
            <a:ext cx="10668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75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Saran lanjutan: ulang beberapa seed, simpan daftar subset dan versi environment, lalu ukur latensi inference pada perangkat yang sama.</a:t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609600" y="6029325"/>
            <a:ext cx="1066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Laporan lengkap dan sumber di Google Sheets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